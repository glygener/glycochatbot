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42"/>
    <p:restoredTop sz="94658"/>
  </p:normalViewPr>
  <p:slideViewPr>
    <p:cSldViewPr snapToGrid="0">
      <p:cViewPr varScale="1">
        <p:scale>
          <a:sx n="120" d="100"/>
          <a:sy n="120" d="100"/>
        </p:scale>
        <p:origin x="9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16E4D-88F8-D308-F7FD-C0ED179E3E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0A7DDA-70A5-9500-F077-0D1A31017A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9D784-CC2E-4FAD-894D-A7B818AF2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B29DC-87E3-D34F-9A86-9E8F2AA76B2D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2F286-AF8F-9388-A290-9467AEB6C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8E4F2-0550-CECB-FADB-A8B6F145A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9E61-0039-D348-A5C1-EADBFF3DE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227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F755E-98C0-8F7D-236A-89D399687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F61B7-4C54-76DD-CEE6-B762EFBDF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EDB56-4DB1-E376-297C-6B917246E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B29DC-87E3-D34F-9A86-9E8F2AA76B2D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A3F8B-46E1-44CB-53EB-A0BB4CFE0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49740-A295-DABD-493E-E8EC310D8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9E61-0039-D348-A5C1-EADBFF3DE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423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65A7D-D7D5-EF9A-BCA8-AD3481919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B9AAA-2EA7-8E9A-4FDB-16DD222B3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3B346-F9CD-BBBB-7363-02D909C9E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B29DC-87E3-D34F-9A86-9E8F2AA76B2D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DCE08-6859-43C5-4FB7-89BC46A5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A68C2-44DF-40B0-C6B7-F78BE5921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9E61-0039-D348-A5C1-EADBFF3DE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749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CAFF8-DBB9-2C93-5509-38022D2A2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7AF20-584C-54C1-2877-A7AC6BC2F6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B7826C-371C-707B-D7F2-E6CD7EEDDE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6DE77A-0745-CF74-FC1E-A62D4CDE5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B29DC-87E3-D34F-9A86-9E8F2AA76B2D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F82692-2CC8-08AE-EA4E-B048B18AC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128463-32C5-883D-3C4C-E5DE98195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9E61-0039-D348-A5C1-EADBFF3DE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810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46D94-404F-7AB1-B62C-5F3109E84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5DD82C-45DD-292C-82B1-2FD406AB8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227ECE-0727-707D-0D80-163A40BA4F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F62A5E-1286-DF11-3CDC-F43F154060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24EAE4-560E-E90A-8D3B-C5DEBAE0C2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6BB4F6-F60B-1D75-73E9-33E884C58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B29DC-87E3-D34F-9A86-9E8F2AA76B2D}" type="datetimeFigureOut">
              <a:rPr lang="en-US" smtClean="0"/>
              <a:t>5/28/26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2A2729-6E6A-8A59-1F17-54428ED28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22ACA5-BE0A-0781-AC94-812293E22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9E61-0039-D348-A5C1-EADBFF3DE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591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CDC6A-E8BF-21CC-1DD3-0B2413538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FF6B81-7D8F-4E8E-1A57-B6CC79FA5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B29DC-87E3-D34F-9A86-9E8F2AA76B2D}" type="datetimeFigureOut">
              <a:rPr lang="en-US" smtClean="0"/>
              <a:t>5/28/26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54FBEF-16FA-A416-94A2-EF58ABDC1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254742-C1A9-67DB-E7B4-0563658DF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9E61-0039-D348-A5C1-EADBFF3DE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764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8424DA-5344-1A17-6CFD-427A83E5D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B29DC-87E3-D34F-9A86-9E8F2AA76B2D}" type="datetimeFigureOut">
              <a:rPr lang="en-US" smtClean="0"/>
              <a:t>5/28/26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E15C16-4C6B-E8E1-DDB3-CEC31476B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5FE72-EF4A-5AE4-BF96-F51838EAB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9E61-0039-D348-A5C1-EADBFF3DE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164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E615F-17AD-53AC-C1DF-0650157BD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B6BF2-20EB-C388-C140-344B4D086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09336F-C51F-4739-1C36-7B27659D60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7567E2-EBBB-C0D4-9B03-3AA5A7A95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B29DC-87E3-D34F-9A86-9E8F2AA76B2D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1505FC-EB10-4464-B456-D7E39BED5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EA3DC9-914A-018D-EF88-89C88E94D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9E61-0039-D348-A5C1-EADBFF3DE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278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16DDB-3B0D-487A-7CCD-6B97F9CC2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B50772-6B09-461C-4B4A-747A965240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CDE19A-C9CF-CCF7-9869-8C3033FE58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FD3480-DD3D-A1C0-C6EC-BAA40BA8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B29DC-87E3-D34F-9A86-9E8F2AA76B2D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08170-A8EC-0452-9D81-6A6C57E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AC7D32-D813-B316-6966-86A599CC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9E61-0039-D348-A5C1-EADBFF3DE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601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6E5D7-6610-4D4C-5E20-9027A85A0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BAA7D0-2526-3330-A665-192F91BCA5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E1FD8A-A209-5149-8A1B-AA977CB12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B29DC-87E3-D34F-9A86-9E8F2AA76B2D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36302-1D14-100A-EE20-76385BA33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2ACF5-BF2B-7F22-1C45-AD4155003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9E61-0039-D348-A5C1-EADBFF3DE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561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40C9C3-D429-A697-054F-6EDF0A96F4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8820F8-D9E8-3845-710B-EB67F8B35A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922C0-7A62-C1C6-67F1-BEBDCCD93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B29DC-87E3-D34F-9A86-9E8F2AA76B2D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114D3-C76D-1ABA-04A5-BBC2A2705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42E28-4CD7-620D-C48E-74682FF37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9E61-0039-D348-A5C1-EADBFF3DE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197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473A76-2AF7-E87B-B6FC-49C8A5649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5C398C-CC76-DE02-86CB-1B131BA138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2165B-5A4C-0805-40F1-4508FA3CC3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AB29DC-87E3-D34F-9A86-9E8F2AA76B2D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AE705-3F40-33A8-16C0-0E65F10DF4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68FF4-9290-B130-B18B-E4344E5D71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4C9E61-0039-D348-A5C1-EADBFF3DE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178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cbi.nlm.nih.gov/books/NBK579918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9BFB-A945-1F3B-ADCC-426177258C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GlycoChatbot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11DCDE-C65F-468E-FF9E-98213A9EC6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Glycomics</a:t>
            </a:r>
            <a:r>
              <a:rPr lang="en-US" dirty="0"/>
              <a:t> chatbot for GlyGen knowledgebase</a:t>
            </a:r>
          </a:p>
          <a:p>
            <a:r>
              <a:rPr lang="en-US" dirty="0"/>
              <a:t>Sujeet Kulkarni</a:t>
            </a:r>
          </a:p>
        </p:txBody>
      </p:sp>
    </p:spTree>
    <p:extLst>
      <p:ext uri="{BB962C8B-B14F-4D97-AF65-F5344CB8AC3E}">
        <p14:creationId xmlns:p14="http://schemas.microsoft.com/office/powerpoint/2010/main" val="651978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5E9AC-10F8-D8BF-9D13-46C7ED144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04D93-B2A4-2E33-4921-A21FB25DA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Domain specific chatbot.</a:t>
            </a:r>
          </a:p>
          <a:p>
            <a:r>
              <a:rPr lang="en-US" dirty="0"/>
              <a:t>Learn </a:t>
            </a:r>
            <a:r>
              <a:rPr lang="en-US" dirty="0" err="1"/>
              <a:t>glycomics</a:t>
            </a:r>
            <a:r>
              <a:rPr lang="en-US" dirty="0"/>
              <a:t> through conversation.</a:t>
            </a:r>
          </a:p>
          <a:p>
            <a:r>
              <a:rPr lang="en-US" dirty="0"/>
              <a:t>Using LLMs to translate user queries and construct answers.</a:t>
            </a:r>
          </a:p>
          <a:p>
            <a:r>
              <a:rPr lang="en-US" dirty="0"/>
              <a:t>Essentials of Glycobiology book -  </a:t>
            </a:r>
            <a:r>
              <a:rPr lang="en-US" dirty="0">
                <a:hlinkClick r:id="rId2"/>
              </a:rPr>
              <a:t>https://www.ncbi.nlm.nih.gov/books/NBK579918/</a:t>
            </a:r>
            <a:endParaRPr lang="en-US" dirty="0"/>
          </a:p>
          <a:p>
            <a:r>
              <a:rPr lang="en-US" dirty="0"/>
              <a:t>Retrieval Augmented Generation (RAG) approach.</a:t>
            </a:r>
          </a:p>
          <a:p>
            <a:r>
              <a:rPr lang="en-US" dirty="0"/>
              <a:t>Focus on improving performance and reduce hallucinations.</a:t>
            </a:r>
          </a:p>
          <a:p>
            <a:r>
              <a:rPr lang="en-US" dirty="0"/>
              <a:t>Help users understand glycobiology concepts.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471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1C689-D54D-B48E-F582-679CF0B6B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level design</a:t>
            </a:r>
          </a:p>
        </p:txBody>
      </p:sp>
      <p:pic>
        <p:nvPicPr>
          <p:cNvPr id="5" name="Content Placeholder 4" descr="User with solid fill">
            <a:extLst>
              <a:ext uri="{FF2B5EF4-FFF2-40B4-BE49-F238E27FC236}">
                <a16:creationId xmlns:a16="http://schemas.microsoft.com/office/drawing/2014/main" id="{A0057AD8-795A-3DDE-8E8D-E920CC2776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26165" y="3633293"/>
            <a:ext cx="914400" cy="914400"/>
          </a:xfrm>
        </p:spPr>
      </p:pic>
      <p:pic>
        <p:nvPicPr>
          <p:cNvPr id="7" name="Graphic 6" descr="Database with solid fill">
            <a:extLst>
              <a:ext uri="{FF2B5EF4-FFF2-40B4-BE49-F238E27FC236}">
                <a16:creationId xmlns:a16="http://schemas.microsoft.com/office/drawing/2014/main" id="{46788C39-37A4-9C43-1636-1534438F6E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4420" y="2596232"/>
            <a:ext cx="914400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A7448F9-DC39-059F-C315-98594242091F}"/>
              </a:ext>
            </a:extLst>
          </p:cNvPr>
          <p:cNvSpPr/>
          <p:nvPr/>
        </p:nvSpPr>
        <p:spPr>
          <a:xfrm>
            <a:off x="3858324" y="2891737"/>
            <a:ext cx="335468" cy="2397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33C147-AD5A-5C03-B014-EA5DD9D01C10}"/>
              </a:ext>
            </a:extLst>
          </p:cNvPr>
          <p:cNvSpPr/>
          <p:nvPr/>
        </p:nvSpPr>
        <p:spPr>
          <a:xfrm>
            <a:off x="5050573" y="2891737"/>
            <a:ext cx="335467" cy="2397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B58BCE-45BE-736C-0F41-AF71F4568B91}"/>
              </a:ext>
            </a:extLst>
          </p:cNvPr>
          <p:cNvSpPr/>
          <p:nvPr/>
        </p:nvSpPr>
        <p:spPr>
          <a:xfrm>
            <a:off x="8077200" y="2891737"/>
            <a:ext cx="335467" cy="2397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65030E6-1118-06AC-E42C-2DDEE496D24A}"/>
              </a:ext>
            </a:extLst>
          </p:cNvPr>
          <p:cNvCxnSpPr>
            <a:cxnSpLocks/>
          </p:cNvCxnSpPr>
          <p:nvPr/>
        </p:nvCxnSpPr>
        <p:spPr>
          <a:xfrm>
            <a:off x="3129776" y="3990132"/>
            <a:ext cx="6021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AB573CD-A758-DF60-3F44-A1ABD1F14E2A}"/>
              </a:ext>
            </a:extLst>
          </p:cNvPr>
          <p:cNvCxnSpPr>
            <a:cxnSpLocks/>
          </p:cNvCxnSpPr>
          <p:nvPr/>
        </p:nvCxnSpPr>
        <p:spPr>
          <a:xfrm flipH="1">
            <a:off x="3111190" y="4295068"/>
            <a:ext cx="6393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87BB71B-B8CC-D039-48AA-7BF6F3B71C6B}"/>
              </a:ext>
            </a:extLst>
          </p:cNvPr>
          <p:cNvCxnSpPr>
            <a:cxnSpLocks/>
          </p:cNvCxnSpPr>
          <p:nvPr/>
        </p:nvCxnSpPr>
        <p:spPr>
          <a:xfrm>
            <a:off x="4352693" y="3990132"/>
            <a:ext cx="6021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FE4D2A2-6DBB-244D-F3FC-F7776ADCE9C0}"/>
              </a:ext>
            </a:extLst>
          </p:cNvPr>
          <p:cNvCxnSpPr>
            <a:cxnSpLocks/>
          </p:cNvCxnSpPr>
          <p:nvPr/>
        </p:nvCxnSpPr>
        <p:spPr>
          <a:xfrm flipH="1">
            <a:off x="4315522" y="4304361"/>
            <a:ext cx="6393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4973E52-B386-FF5A-EFA9-5531316658CD}"/>
              </a:ext>
            </a:extLst>
          </p:cNvPr>
          <p:cNvCxnSpPr>
            <a:cxnSpLocks/>
          </p:cNvCxnSpPr>
          <p:nvPr/>
        </p:nvCxnSpPr>
        <p:spPr>
          <a:xfrm>
            <a:off x="5672254" y="2971656"/>
            <a:ext cx="6021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8363FFA-9983-ECF1-CE70-0544B69050B7}"/>
              </a:ext>
            </a:extLst>
          </p:cNvPr>
          <p:cNvCxnSpPr>
            <a:cxnSpLocks/>
          </p:cNvCxnSpPr>
          <p:nvPr/>
        </p:nvCxnSpPr>
        <p:spPr>
          <a:xfrm flipH="1">
            <a:off x="5635083" y="3241279"/>
            <a:ext cx="6393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D7B3EA1-D8D4-55CA-F8D0-2DFBE3B4730D}"/>
              </a:ext>
            </a:extLst>
          </p:cNvPr>
          <p:cNvCxnSpPr>
            <a:cxnSpLocks/>
          </p:cNvCxnSpPr>
          <p:nvPr/>
        </p:nvCxnSpPr>
        <p:spPr>
          <a:xfrm>
            <a:off x="5657385" y="3997977"/>
            <a:ext cx="2148469" cy="107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8B348E7-D031-40F6-AD7E-7DAC7889043D}"/>
              </a:ext>
            </a:extLst>
          </p:cNvPr>
          <p:cNvCxnSpPr>
            <a:cxnSpLocks/>
          </p:cNvCxnSpPr>
          <p:nvPr/>
        </p:nvCxnSpPr>
        <p:spPr>
          <a:xfrm flipH="1">
            <a:off x="5635083" y="4304361"/>
            <a:ext cx="21707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C0B45A3-ED19-A1F5-F913-5115A4920416}"/>
              </a:ext>
            </a:extLst>
          </p:cNvPr>
          <p:cNvSpPr txBox="1"/>
          <p:nvPr/>
        </p:nvSpPr>
        <p:spPr>
          <a:xfrm>
            <a:off x="2219091" y="4545688"/>
            <a:ext cx="728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1CC7A7-0C05-93DA-AEAF-B9EF774A73FE}"/>
              </a:ext>
            </a:extLst>
          </p:cNvPr>
          <p:cNvSpPr txBox="1"/>
          <p:nvPr/>
        </p:nvSpPr>
        <p:spPr>
          <a:xfrm>
            <a:off x="3464546" y="5378594"/>
            <a:ext cx="1123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User</a:t>
            </a:r>
          </a:p>
          <a:p>
            <a:r>
              <a:rPr lang="en-US" dirty="0"/>
              <a:t>Interface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D8987F-4E95-18BC-EDA4-53F1131238E9}"/>
              </a:ext>
            </a:extLst>
          </p:cNvPr>
          <p:cNvSpPr txBox="1"/>
          <p:nvPr/>
        </p:nvSpPr>
        <p:spPr>
          <a:xfrm>
            <a:off x="4809195" y="5378594"/>
            <a:ext cx="8182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API</a:t>
            </a:r>
          </a:p>
          <a:p>
            <a:r>
              <a:rPr lang="en-US" dirty="0"/>
              <a:t>Server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1E537C-541F-7D6D-87F8-DA55899A7BE2}"/>
              </a:ext>
            </a:extLst>
          </p:cNvPr>
          <p:cNvSpPr txBox="1"/>
          <p:nvPr/>
        </p:nvSpPr>
        <p:spPr>
          <a:xfrm>
            <a:off x="5744737" y="3453426"/>
            <a:ext cx="1973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Vector database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EC191F-03C4-DAB9-E507-BD2AB93A1D62}"/>
              </a:ext>
            </a:extLst>
          </p:cNvPr>
          <p:cNvSpPr txBox="1"/>
          <p:nvPr/>
        </p:nvSpPr>
        <p:spPr>
          <a:xfrm>
            <a:off x="7718502" y="5367443"/>
            <a:ext cx="1123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LLM API Interface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ABABA5E-FA57-8D84-7276-A444D1E8BD16}"/>
              </a:ext>
            </a:extLst>
          </p:cNvPr>
          <p:cNvSpPr txBox="1"/>
          <p:nvPr/>
        </p:nvSpPr>
        <p:spPr>
          <a:xfrm>
            <a:off x="5218306" y="1765698"/>
            <a:ext cx="3368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Essentials of Glycobiology book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B796DDC-44BC-E453-10CB-B3516E2D8040}"/>
              </a:ext>
            </a:extLst>
          </p:cNvPr>
          <p:cNvCxnSpPr>
            <a:cxnSpLocks/>
          </p:cNvCxnSpPr>
          <p:nvPr/>
        </p:nvCxnSpPr>
        <p:spPr>
          <a:xfrm>
            <a:off x="6731619" y="2135030"/>
            <a:ext cx="0" cy="4612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0495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87D37-BACC-27B5-4D3A-70F7DF9E4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57958-FC0B-8437-1C08-1F8142682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Building a </a:t>
            </a:r>
            <a:r>
              <a:rPr lang="en-US" dirty="0" err="1"/>
              <a:t>glycomics</a:t>
            </a:r>
            <a:r>
              <a:rPr lang="en-US" dirty="0"/>
              <a:t> question bank with sample answers and chapter numbers.</a:t>
            </a:r>
          </a:p>
          <a:p>
            <a:r>
              <a:rPr lang="en-US" dirty="0"/>
              <a:t>Develop metrics for evaluation – based on answer relevance, ability to reduce hallucinations, and successful chapter number retrieval.</a:t>
            </a:r>
          </a:p>
          <a:p>
            <a:r>
              <a:rPr lang="en-US" dirty="0"/>
              <a:t>Evaluating the chatbot performance.</a:t>
            </a:r>
          </a:p>
        </p:txBody>
      </p:sp>
    </p:spTree>
    <p:extLst>
      <p:ext uri="{BB962C8B-B14F-4D97-AF65-F5344CB8AC3E}">
        <p14:creationId xmlns:p14="http://schemas.microsoft.com/office/powerpoint/2010/main" val="2409225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</TotalTime>
  <Words>128</Words>
  <Application>Microsoft Macintosh PowerPoint</Application>
  <PresentationFormat>Widescreen</PresentationFormat>
  <Paragraphs>25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GlycoChatbot</vt:lpstr>
      <vt:lpstr>Overview</vt:lpstr>
      <vt:lpstr>High level design</vt:lpstr>
      <vt:lpstr>Performance evaluation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Sujeet Vyankatesh Kulkarni</dc:creator>
  <cp:lastModifiedBy>Sujeet Vyankatesh Kulkarni</cp:lastModifiedBy>
  <cp:revision>4</cp:revision>
  <dcterms:created xsi:type="dcterms:W3CDTF">2026-05-27T15:14:08Z</dcterms:created>
  <dcterms:modified xsi:type="dcterms:W3CDTF">2026-05-28T16:06:48Z</dcterms:modified>
</cp:coreProperties>
</file>